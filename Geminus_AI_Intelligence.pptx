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9653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6583680" y="-1645920"/>
            <a:ext cx="3657600" cy="365760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548640" y="3474720"/>
            <a:ext cx="1645920" cy="164592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Intelligence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&amp; Space Optimization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33375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Geminus uses AI and BIM data to anticipate failures and optimize space usage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GEMINUS  ·  Insights Platform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AI-Powered Modules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 to keep buildings efficient and well-maintained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3840480" cy="33375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84048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4747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sensor readings and equipment data to predict failures before they occur.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anomalies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&amp; humidity thresholds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type &amp; age patterns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Risk-scored predictions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3931920" cy="3337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9" name="Shape 7"/>
          <p:cNvSpPr/>
          <p:nvPr/>
        </p:nvSpPr>
        <p:spPr>
          <a:xfrm>
            <a:off x="4846320" y="1325880"/>
            <a:ext cx="393192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5661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room utilization to surface actionable space improvement opportunities.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Underutilized room detection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 identification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convert / rezone actions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utilization score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— How It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1965960" cy="3017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🏗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BIM/IFC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39572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model: rooms, equipment, positions stored in Supabase via IFC sync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0" y="2606040"/>
            <a:ext cx="1828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2468880" y="1097280"/>
            <a:ext cx="196596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1" name="Shape 9"/>
          <p:cNvSpPr/>
          <p:nvPr/>
        </p:nvSpPr>
        <p:spPr>
          <a:xfrm>
            <a:off x="2514600" y="10241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2514600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1234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6032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39572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CO₂, humidity, occupancy from equipment attributes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34840" y="2606040"/>
            <a:ext cx="1828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Shape 15"/>
          <p:cNvSpPr/>
          <p:nvPr/>
        </p:nvSpPr>
        <p:spPr>
          <a:xfrm>
            <a:off x="4617720" y="1097280"/>
            <a:ext cx="1965960" cy="3017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8" name="Shape 16"/>
          <p:cNvSpPr/>
          <p:nvPr/>
        </p:nvSpPr>
        <p:spPr>
          <a:xfrm>
            <a:off x="4663440" y="10241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4663440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1234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70916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239572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analyzes up to 100 equipment items and 80 rooms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0" y="2606040"/>
            <a:ext cx="18288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4" name="Shape 22"/>
          <p:cNvSpPr/>
          <p:nvPr/>
        </p:nvSpPr>
        <p:spPr>
          <a:xfrm>
            <a:off x="6766560" y="1097280"/>
            <a:ext cx="1965960" cy="3017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5" name="Shape 23"/>
          <p:cNvSpPr/>
          <p:nvPr/>
        </p:nvSpPr>
        <p:spPr>
          <a:xfrm>
            <a:off x="6812280" y="10241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6812280" y="1024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123444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858000" y="1965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Predictions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58000" y="2395728"/>
            <a:ext cx="1783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output: risk level, category, confidence, time-to-failure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fetched fresh on every analysis request — always reflects current building state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— Thresholds &amp; Standards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987552"/>
            <a:ext cx="91440" cy="713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438912" y="987552"/>
            <a:ext cx="51663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566928" y="1042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20–22 °C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097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range signals HVAC stress or failure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34840" y="1216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ASHRAE 55 / EN 15251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9144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438912" y="1874520"/>
            <a:ext cx="51663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566928" y="1929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Level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2585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1 000 ppm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19842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ventilation — sick building risk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434840" y="21031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16798-1 Category II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761488"/>
            <a:ext cx="91440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Shape 14"/>
          <p:cNvSpPr/>
          <p:nvPr/>
        </p:nvSpPr>
        <p:spPr>
          <a:xfrm>
            <a:off x="438912" y="2761488"/>
            <a:ext cx="51663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566928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1455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60 %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28712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 growth and corrosion of equipment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34840" y="2990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15665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648456"/>
            <a:ext cx="9144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438912" y="3648456"/>
            <a:ext cx="516636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566928" y="3703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4032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patterns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11680" y="375818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HVAC, boilers and pumps carry higher failure probability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434840" y="38770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55000 Asset Mgmt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97880" y="914400"/>
            <a:ext cx="2834640" cy="3931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6035040" y="1005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Equipment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Analyzed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53328" y="173736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6217920" y="16824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IfcSensor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53328" y="208483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6217920" y="20299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IfcActuator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53328" y="2432304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621792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IfcAlarm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53328" y="2779776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217920" y="2724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IfcFan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053328" y="312724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6217920" y="3072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IfcPump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053328" y="347472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0" name="Text 38"/>
          <p:cNvSpPr/>
          <p:nvPr/>
        </p:nvSpPr>
        <p:spPr>
          <a:xfrm>
            <a:off x="6217920" y="34198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IfcBoiler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053328" y="382219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6217920" y="3767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IfcChiller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053328" y="4169664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4" name="Text 42"/>
          <p:cNvSpPr/>
          <p:nvPr/>
        </p:nvSpPr>
        <p:spPr>
          <a:xfrm>
            <a:off x="621792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IfcUnitaryEquipment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— Output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377440" cy="2377440"/>
          </a:xfrm>
          <a:prstGeom prst="ellipse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457200" y="16642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9E0B"/>
                </a:solidFill>
              </a:rPr>
              <a:t>68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487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Overall Risk Score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/ 100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</a:rPr>
              <a:t>Example predictions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08960" y="960120"/>
            <a:ext cx="5577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9" name="Shape 7"/>
          <p:cNvSpPr/>
          <p:nvPr/>
        </p:nvSpPr>
        <p:spPr>
          <a:xfrm>
            <a:off x="3108960" y="960120"/>
            <a:ext cx="128016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3319272" y="1069848"/>
            <a:ext cx="777240" cy="2468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3319272" y="106984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0" y="10515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Compressor Wear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13898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HVAC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4–6 weeks to failure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13533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82%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148840"/>
            <a:ext cx="5577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7" name="Shape 15"/>
          <p:cNvSpPr/>
          <p:nvPr/>
        </p:nvSpPr>
        <p:spPr>
          <a:xfrm>
            <a:off x="3108960" y="2148840"/>
            <a:ext cx="128016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8" name="Shape 16"/>
          <p:cNvSpPr/>
          <p:nvPr/>
        </p:nvSpPr>
        <p:spPr>
          <a:xfrm>
            <a:off x="3319272" y="2258568"/>
            <a:ext cx="777240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3319272" y="225856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0" y="2240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Panel — Overload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06240" y="2578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Electrical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2–4 weeks to failure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2542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76%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8960" y="3337560"/>
            <a:ext cx="5577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5" name="Shape 23"/>
          <p:cNvSpPr/>
          <p:nvPr/>
        </p:nvSpPr>
        <p:spPr>
          <a:xfrm>
            <a:off x="3108960" y="3337560"/>
            <a:ext cx="128016" cy="1051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6" name="Shape 24"/>
          <p:cNvSpPr/>
          <p:nvPr/>
        </p:nvSpPr>
        <p:spPr>
          <a:xfrm>
            <a:off x="3319272" y="3447288"/>
            <a:ext cx="777240" cy="2468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3319272" y="3447288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06240" y="34290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Suppression Inspection Due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06240" y="3767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Fire Safety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3–4 months to failure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37307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95%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Optimization — How It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47472" y="1143000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3504" y="1719072"/>
            <a:ext cx="0" cy="32004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Inventory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444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all IfcSpace entries with gross area and floor assignment from the IFC-synced BIM model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47472" y="207568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03504" y="2651760"/>
            <a:ext cx="0" cy="32004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sv-SE"/>
          </a:p>
        </p:txBody>
      </p:sp>
      <p:sp>
        <p:nvSpPr>
          <p:cNvPr id="9" name="Text 7"/>
          <p:cNvSpPr/>
          <p:nvPr/>
        </p:nvSpPr>
        <p:spPr>
          <a:xfrm>
            <a:off x="1097280" y="2075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Mapping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assets per room to measure technical density and sensor instrumentation coverage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3008376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03504" y="3584448"/>
            <a:ext cx="0" cy="32004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1097280" y="30083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Extraction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3101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occupancy, temperature, CO₂ and humidity from room attributes in real time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7472" y="3941064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097280" y="394106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Suggestion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424281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analyzes up to 500 rooms and classifies each into optimization action types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06440" y="1005840"/>
            <a:ext cx="2971800" cy="3840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 Types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43600" y="1508760"/>
            <a:ext cx="2697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6016752" y="1618488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6016752" y="1591056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15636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Underutilized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18013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&lt; 30%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43600" y="2139696"/>
            <a:ext cx="2697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6" name="Shape 24"/>
          <p:cNvSpPr/>
          <p:nvPr/>
        </p:nvSpPr>
        <p:spPr>
          <a:xfrm>
            <a:off x="6016752" y="2249424"/>
            <a:ext cx="310896" cy="31089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6016752" y="2221992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2194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24323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&gt; 80%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770632"/>
            <a:ext cx="2697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1" name="Shape 29"/>
          <p:cNvSpPr/>
          <p:nvPr/>
        </p:nvSpPr>
        <p:spPr>
          <a:xfrm>
            <a:off x="6016752" y="288036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6016752" y="285292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28254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30632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adjacent spaces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43600" y="3401568"/>
            <a:ext cx="2697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6" name="Shape 34"/>
          <p:cNvSpPr/>
          <p:nvPr/>
        </p:nvSpPr>
        <p:spPr>
          <a:xfrm>
            <a:off x="6016752" y="3511296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7" name="Text 35"/>
          <p:cNvSpPr/>
          <p:nvPr/>
        </p:nvSpPr>
        <p:spPr>
          <a:xfrm>
            <a:off x="6016752" y="3483864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0" y="34564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0" y="36941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room function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0" y="4032504"/>
            <a:ext cx="2697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1" name="Shape 39"/>
          <p:cNvSpPr/>
          <p:nvPr/>
        </p:nvSpPr>
        <p:spPr>
          <a:xfrm>
            <a:off x="6016752" y="4142232"/>
            <a:ext cx="310896" cy="3108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2" name="Text 40"/>
          <p:cNvSpPr/>
          <p:nvPr/>
        </p:nvSpPr>
        <p:spPr>
          <a:xfrm>
            <a:off x="6016752" y="411480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🗺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00800" y="40873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Rezone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00800" y="43251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Redefine zone boundaries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Optimization — Criteria &amp; Standards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47472" y="960120"/>
            <a:ext cx="4023360" cy="18105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40233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484632" y="11247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33272" y="1124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Underutilization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30% occupancy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7647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CoreNet Global and Leesman workplace benchmarks. Rooms consistently below threshold are candidates for consolidation or conversion.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90872" y="960120"/>
            <a:ext cx="4023360" cy="18105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4690872" y="960120"/>
            <a:ext cx="402336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4828032" y="11247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376672" y="1124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76672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 occupancy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28032" y="176479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High-density rooms increase stress and raise fire safety concerns. Triggers rezone, extension or flexible furniture recommendations.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953512"/>
            <a:ext cx="4023360" cy="18105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16" name="Shape 14"/>
          <p:cNvSpPr/>
          <p:nvPr/>
        </p:nvSpPr>
        <p:spPr>
          <a:xfrm>
            <a:off x="347472" y="2953512"/>
            <a:ext cx="40233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484632" y="311810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33272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Measurement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33272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area (m²)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" y="375818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IFC gross_area from the BIM model per ISO 9836 — Performance Standards in Buildings. Ensures consistent measurement across the portfolio.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90872" y="2953512"/>
            <a:ext cx="4023360" cy="18105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4690872" y="2953512"/>
            <a:ext cx="40233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4828032" y="311810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376672" y="3118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Sensor Link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76672" y="34107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Sensor-driven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28032" y="3758184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without sensors are flagged for instrumentation. EN 15232-1 and BREEAM reward granular occupancy monitoring for energy classification.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7472" y="48188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referenced: ISO 9836 · EN 15232-1 · EN 16798-1 · CoreNet Global · Leesman Workplace Index · BREEAM Indoor Environment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components connect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2651760" cy="3520440"/>
          </a:xfrm>
          <a:prstGeom prst="rect">
            <a:avLst/>
          </a:prstGeom>
          <a:solidFill>
            <a:srgbClr val="162234"/>
          </a:solidFill>
          <a:ln w="12700">
            <a:solidFill>
              <a:srgbClr val="2D4A6B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265176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438912" y="1261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2064" y="1755648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8" name="Text 6"/>
          <p:cNvSpPr/>
          <p:nvPr/>
        </p:nvSpPr>
        <p:spPr>
          <a:xfrm>
            <a:off x="713232" y="16916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IFC / BIM model sync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" y="2487168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713232" y="242316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" y="3218688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713232" y="315468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Assets, Rooms, Equipment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" y="3950208"/>
            <a:ext cx="128016" cy="12801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713232" y="38862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attribute values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99232" y="2999232"/>
            <a:ext cx="24688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Shape 14"/>
          <p:cNvSpPr/>
          <p:nvPr/>
        </p:nvSpPr>
        <p:spPr>
          <a:xfrm>
            <a:off x="3246120" y="1234440"/>
            <a:ext cx="2651760" cy="3520440"/>
          </a:xfrm>
          <a:prstGeom prst="rect">
            <a:avLst/>
          </a:prstGeom>
          <a:solidFill>
            <a:srgbClr val="162234"/>
          </a:solidFill>
          <a:ln w="12700">
            <a:solidFill>
              <a:srgbClr val="2D4A6B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Shape 15"/>
          <p:cNvSpPr/>
          <p:nvPr/>
        </p:nvSpPr>
        <p:spPr>
          <a:xfrm>
            <a:off x="3246120" y="1234440"/>
            <a:ext cx="265176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3337560" y="1261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10712" y="175564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3611880" y="16916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Edge Functions (Deno)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248716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3611880" y="242316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(Anthropic)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10712" y="321868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3611880" y="315468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10712" y="3950208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3611880" y="38862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500 rooms / 100 equipment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2999232"/>
            <a:ext cx="246888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8" name="Shape 26"/>
          <p:cNvSpPr/>
          <p:nvPr/>
        </p:nvSpPr>
        <p:spPr>
          <a:xfrm>
            <a:off x="6144768" y="1234440"/>
            <a:ext cx="2651760" cy="3520440"/>
          </a:xfrm>
          <a:prstGeom prst="rect">
            <a:avLst/>
          </a:prstGeom>
          <a:solidFill>
            <a:srgbClr val="162234"/>
          </a:solidFill>
          <a:ln w="12700">
            <a:solidFill>
              <a:srgbClr val="2D4A6B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9" name="Shape 27"/>
          <p:cNvSpPr/>
          <p:nvPr/>
        </p:nvSpPr>
        <p:spPr>
          <a:xfrm>
            <a:off x="6144768" y="1234440"/>
            <a:ext cx="26517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6236208" y="1261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175564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6510528" y="169164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Geminus Insights UI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248716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6510528" y="242316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model visualization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32186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510528" y="315468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cards &amp; utilization score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395020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6510528" y="38862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export &amp; 3D viewer link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analysis runs server-side in isolated Deno edge functions — no data leaves the Supabase project boundary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4389120" cy="4389120"/>
          </a:xfrm>
          <a:prstGeom prst="ellipse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4081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building data, not assumptions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70078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is based on live IFC-sourced assets — rooms, equipment, sensor attributes — from the actual building model.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0292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22768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Standards-aligned thresholds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5694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CO₂, humidity and occupancy thresholds follow EN 15251, EN 16798-1, ISO 55000 and CoreNet Global benchmarks.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50292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15568" y="31455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results, AI-refined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43814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estimates appear immediately. Claude Haiku 4.5 then refines them with building-specific insights in the background.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77640"/>
            <a:ext cx="50292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457200" y="397764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04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15568" y="40142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directly to the 3D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430682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is tied to a room or equipment GUID and can be visualized in the 3D building viewer with one click.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1694</TotalTime>
  <Words>770</Words>
  <Application>Microsoft Office PowerPoint</Application>
  <PresentationFormat>Bildspel på skärmen (16:9)</PresentationFormat>
  <Paragraphs>175</Paragraphs>
  <Slides>9</Slides>
  <Notes>9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Building Intelligence</dc:title>
  <dc:subject>PptxGenJS Presentation</dc:subject>
  <dc:creator>Geminus</dc:creator>
  <cp:lastModifiedBy>Pål Janson</cp:lastModifiedBy>
  <cp:revision>1</cp:revision>
  <dcterms:created xsi:type="dcterms:W3CDTF">2026-06-22T10:26:20Z</dcterms:created>
  <dcterms:modified xsi:type="dcterms:W3CDTF">2026-06-23T15:05:43Z</dcterms:modified>
</cp:coreProperties>
</file>